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CHENNAI INSTITUTE OF TECHNOLOGY (Autonomous)</a:t>
            </a:r>
          </a:p>
          <a:p>
            <a:pPr algn="ctr">
              <a:spcBef>
                <a:spcPts val="1000"/>
              </a:spcBef>
              <a:defRPr sz="2600" b="1">
                <a:solidFill>
                  <a:srgbClr val="0F172A"/>
                </a:solidFill>
              </a:defRPr>
            </a:pPr>
            <a:r>
              <a:t>CS5403 – Machine Learning</a:t>
            </a:r>
            <a:br/>
            <a:r>
              <a:t>PBL Project Review–II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TITLE OF THE PROJECT:</a:t>
            </a:r>
          </a:p>
          <a:p>
            <a:pPr algn="ctr">
              <a:spcBef>
                <a:spcPts val="500"/>
              </a:spcBef>
              <a:defRPr sz="2200" b="1">
                <a:solidFill>
                  <a:srgbClr val="4F46E5"/>
                </a:solidFill>
              </a:defRPr>
            </a:pPr>
            <a:r>
              <a:t>Stock Price Prediction Engine Using Supervised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Presentation by: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1. Saisaran M (Reg No: 21024251040851)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2. Sarvanesh DS (Reg No: 2104251040898)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Dept: Computer Science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Mentor: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&lt;Mentor_Name&gt;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&lt;Designation&gt;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Dept: Computer Science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Date: 23/07/2026                             II–Year PBL Project Review–II                            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Project Progress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800"/>
              </a:spcBef>
              <a:defRPr sz="1600" b="1">
                <a:solidFill>
                  <a:srgbClr val="4F46E5"/>
                </a:solidFill>
              </a:defRPr>
            </a:pPr>
            <a:r>
              <a:t>I.  Current Progress (%)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</a:defRPr>
            </a:pPr>
            <a:r>
              <a:t>85% - 90% Completed (Full supervised machine learning pipeline, feature engineering, backtester &amp; cloud deployed interactive dashboard UI)</a:t>
            </a:r>
          </a:p>
          <a:p>
            <a:pPr>
              <a:spcBef>
                <a:spcPts val="800"/>
              </a:spcBef>
              <a:defRPr sz="1600" b="1">
                <a:solidFill>
                  <a:srgbClr val="4F46E5"/>
                </a:solidFill>
              </a:defRPr>
            </a:pPr>
            <a:r>
              <a:t>II. Completed Milestones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</a:defRPr>
            </a:pPr>
            <a:r>
              <a:t>• Data Ingestion pipeline via Yahoo Finance API (GOOGL, AAPL, NVDA, AMZN, TSLA, MSFT, META, SPY)</a:t>
            </a:r>
            <a:br/>
            <a:r>
              <a:t>• Feature Engineering pipeline generating 34 technical indicators (SMA, EMA, RSI 14, MACD, Volatility, Lags)</a:t>
            </a:r>
            <a:br/>
            <a:r>
              <a:t>• Trained 4 Supervised ML Models (Ridge Regression, Random Forest, XGBoost, SVR/SVC)</a:t>
            </a:r>
            <a:br/>
            <a:r>
              <a:t>• Out-of-sample Time-Series walk-forward evaluation &amp; backtest equity curve simulation</a:t>
            </a:r>
            <a:br/>
            <a:r>
              <a:t>• Full-stack Web Application (Flask REST API + Dynamic Glassmorphic Dashboard UI + CSV Report Exporter)</a:t>
            </a:r>
          </a:p>
          <a:p>
            <a:pPr>
              <a:spcBef>
                <a:spcPts val="800"/>
              </a:spcBef>
              <a:defRPr sz="1600" b="1">
                <a:solidFill>
                  <a:srgbClr val="4F46E5"/>
                </a:solidFill>
              </a:defRPr>
            </a:pPr>
            <a:r>
              <a:t>III. Remaining Work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</a:defRPr>
            </a:pPr>
            <a:r>
              <a:t>• Automated hyperparameter tuning optimization via Optuna / GridSearch</a:t>
            </a:r>
            <a:br/>
            <a:r>
              <a:t>• Incorporating Financial News Sentiment Analysis (NLP) for multi-modal signal generation</a:t>
            </a:r>
          </a:p>
          <a:p>
            <a:pPr>
              <a:spcBef>
                <a:spcPts val="800"/>
              </a:spcBef>
              <a:defRPr sz="1600" b="1">
                <a:solidFill>
                  <a:srgbClr val="4F46E5"/>
                </a:solidFill>
              </a:defRPr>
            </a:pPr>
            <a:r>
              <a:t>IV. Project Timeline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</a:defRPr>
            </a:pPr>
            <a:r>
              <a:t>• W1-W2: Data collection &amp; ingestion setup (Done)  |  W3-W4: Feature engineering (Done)</a:t>
            </a:r>
            <a:br/>
            <a:r>
              <a:t>• W5-W6: Supervised model training &amp; evaluation (Done)  |  W7-W8: Web UI Dashboard &amp; Cloud Deployment (Done)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Data Collection &amp;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I.  Dataset Screenshot / Source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Automated daily market data ingestion via Yahoo Finance API (yfinance). Includes historical trading records for major corporations: Alphabet/Google (GOOGL), Apple (AAPL), NVIDIA (NVDA), Amazon (AMZN), Tesla (TSLA), Microsoft (MSFT), Meta (META), Netflix (NFLX), AMD (AMD), S&amp;P 500 (SPY).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II. Dataset Description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Raw Features: Open, High, Low, Close, Adjusted Close, Volume (OHLCV).</a:t>
            </a:r>
            <a:br/>
            <a:r>
              <a:t>• 34 Technical Indicators Derived:</a:t>
            </a:r>
            <a:br/>
            <a:r>
              <a:t>   - Trend: Moving Averages (SMA 10, 20, 50, 200), Exponential Moving Averages (EMA 12, 26)</a:t>
            </a:r>
            <a:br/>
            <a:r>
              <a:t>   - Momentum: Relative Strength Index (RSI 14), MACD Line, Signal Line, MACD Histogram</a:t>
            </a:r>
            <a:br/>
            <a:r>
              <a:t>   - Volatility &amp; Risk: Bollinger Bands (Upper, Lower, Width), 20-Day Standard Deviation</a:t>
            </a:r>
            <a:br/>
            <a:r>
              <a:t>   - Lags &amp; Returns: Close price lags (t-1, t-2, t-3, t-5), Volume Lags, Daily Percentage Returns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III. Total Number of samples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Sample Size: ~1,260 daily trading samples per stock ticker (5-year historical timeframe).</a:t>
            </a:r>
            <a:br/>
            <a:r>
              <a:t>• Data Shape: 1,260 samples × 34 technical feature columns. Cleaned and scaled via StandardScaler.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Methodology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I.  Workflow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Raw Stock Data Ingestion (yfinance) ➔ Data Preprocessing &amp; Cleaning ➔ 34 Technical Feature Generation ➔ Chronological Time-Series Split (80% Train / 20% Test) ➔ Supervised ML Model Training ➔ Out-of-Sample Performance Evaluation &amp; Strategy Backtesting ➔ Flask REST API &amp; Web Dashboard UI.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II. Algorithmic Flow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Regression Task: Learning non-linear target mapping f(X_t) -&gt; Y_{t+1} to forecast exact next-day closing stock price.</a:t>
            </a:r>
            <a:br/>
            <a:r>
              <a:t>• Classification Task: Predicting target directional momentum signal (1 = Bullish / Up, 0 = Bearish / Down).</a:t>
            </a:r>
            <a:br/>
            <a:r>
              <a:t>• Validation Strategy: Time-Series Walk-Forward split preserving temporal order to strictly eliminate future data leakage.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III. Technology Stack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Programming Language: Python 3.11</a:t>
            </a:r>
            <a:br/>
            <a:r>
              <a:t>• ML &amp; Analytics Libraries: Scikit-Learn, XGBoost, Pandas, NumPy, YFinance</a:t>
            </a:r>
            <a:br/>
            <a:r>
              <a:t>• Server Backend: Flask, Flask-CORS, Gunicorn WSGI Server</a:t>
            </a:r>
            <a:br/>
            <a:r>
              <a:t>• Frontend Dashboard: HTML5, CSS3 Glassmorphism, JavaScript ES6, Chart.js, FontAwesome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System Architecture &amp; Module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I.  Architectural Diagram &amp; Modules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Modular Architecture:</a:t>
            </a:r>
            <a:br/>
            <a:r>
              <a:t>   - data_loader.py: Downloads stock prices &amp; resolves ticker alias inputs</a:t>
            </a:r>
            <a:br/>
            <a:r>
              <a:t>   - features.py: Constructs 34 technical indicators &amp; target price labels</a:t>
            </a:r>
            <a:br/>
            <a:r>
              <a:t>   - models.py: Trains Ridge, Random Forest, XGBoost &amp; SVR supervised algorithms</a:t>
            </a:r>
            <a:br/>
            <a:r>
              <a:t>   - evaluate.py: Computes MAE, RMSE, R², Sharpe Ratio &amp; backtests trading equity</a:t>
            </a:r>
            <a:br/>
            <a:r>
              <a:t>   - app.py: Flask Web REST API server supplying JSON predictions to client UI</a:t>
            </a:r>
            <a:br/>
            <a:r>
              <a:t>   - static/app.js &amp; templates/index.html: Interactive Glassmorphic financial dashboard UI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II. APIs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External API: Yahoo Finance API (yfinance) &amp; Clearbit Corporate Brand Logo API</a:t>
            </a:r>
            <a:br/>
            <a:r>
              <a:t>• Internal REST Endpoints:</a:t>
            </a:r>
            <a:br/>
            <a:r>
              <a:t>   - POST /api/predict: Accepts ticker symbol &amp; time period; returns predictions, metrics &amp; chart datasets</a:t>
            </a:r>
            <a:br/>
            <a:r>
              <a:t>   - POST /api/export_csv: Generates formatted CSV report download for Excel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III. Hardware &amp;/or Software Components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Hardware: Workstation (x86_64 CPU, 8GB+ RAM)</a:t>
            </a:r>
            <a:br/>
            <a:r>
              <a:t>• Software: Python 3.11 Virtual Environment, Flask REST Server, Render Cloud Web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Implementation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I.  Code Architecture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Modular Python package structure (src/ backend engine + app.py REST server + templates/ &amp; static/ frontend UI)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II. IDE Used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Visual Studio Code / Antigravity IDE &amp; Jupyter Notebook (stock_prediction_notebook.ipynb)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III. Libraries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pandas, numpy, scikit-learn, xgboost, yfinance, flask, flask-cors, gunicorn, matplotlib, chart.js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IV. GitHub Repository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https://github.com/saisaran-m/StockPrediction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V. Current Screenshot / Live Link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Live Cloud Server: https://stockprediction-z8r0.onrender.com</a:t>
            </a:r>
            <a:br/>
            <a:r>
              <a:t>Local Development Server: http://localhost:5050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Implementation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I.  Sample Outputs (Screenshots)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Out-of-sample actual vs predicted price line chart overlay</a:t>
            </a:r>
            <a:br/>
            <a:r>
              <a:t>• Relative Strength Index (RSI 14) momentum oscillator chart</a:t>
            </a:r>
            <a:br/>
            <a:r>
              <a:t>• Technical feature importances bar chart ranking key technical indicators</a:t>
            </a:r>
            <a:br/>
            <a:r>
              <a:t>• Algorithmic strategy backtest equity growth curve vs Buy &amp; Hold benchmark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II. Working Prototype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Full-stack Web Application running locally on port 5050 &amp; deployed on Render cloud server</a:t>
            </a:r>
            <a:br/>
            <a:r>
              <a:t>• Interactive Dark/Light theme mode toggling &amp; HTML5 canvas ML video explainer player</a:t>
            </a:r>
            <a:br/>
            <a:r>
              <a:t>• Instant CSV report file generator for Microsoft Excel / Google Sheets</a:t>
            </a:r>
          </a:p>
          <a:p>
            <a:pPr>
              <a:spcBef>
                <a:spcPts val="1000"/>
              </a:spcBef>
              <a:defRPr sz="1600" b="1">
                <a:solidFill>
                  <a:srgbClr val="4F46E5"/>
                </a:solidFill>
              </a:defRPr>
            </a:pPr>
            <a:r>
              <a:t>III. Prediction Result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High out-of-sample accuracy (Low MAE &amp; RMSE, R² &gt; 0.85 on test benchmarks)</a:t>
            </a:r>
            <a:br/>
            <a:r>
              <a:t>• Multi-horizon price target predictions (1-Day, 3-Day, 5-Day, 7-Day projections)</a:t>
            </a:r>
            <a:br/>
            <a:r>
              <a:t>• Current month day-by-day forecast table with daily increase/decrease dollar change amounts ($)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Current Challenges &amp; Future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Date: 23/07/2026                  II–Year PBL Project Review–II                  Chennai Institute of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4F46E5"/>
                </a:solidFill>
              </a:defRPr>
            </a:pPr>
            <a:r>
              <a:t>Challenges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I. Tech Challenges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Handling non-stationarity in financial price time-series data and managing model hyperparameter tuning overhead.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II. Dataset Challenges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High noise ratio during unexpected global macroeconomic events and intraday price spikes.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III. Implementation Challenges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Enforcing strict chronological walk-forward splitting to eliminate future data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4F46E5"/>
                </a:solidFill>
              </a:defRPr>
            </a:pPr>
            <a:r>
              <a:t>Next Plan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I. Model Optimization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Automating hyperparameter optimization via Optuna and building Ensemble Stacking Regressors.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II. Performance Evaluation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Incorporating real-world trading friction (transaction fees, slippage &amp; Max Drawdown controls).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III. Testing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Integrating Natural Language Processing (NLP) news sentiment analysis and Deep Learning LSTM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0"/>
          <a:lstStyle/>
          <a:p>
            <a:pPr algn="ctr">
              <a:spcAft>
                <a:spcPts val="2500"/>
              </a:spcAft>
              <a:defRPr sz="4400" b="1">
                <a:solidFill>
                  <a:srgbClr val="4F46E5"/>
                </a:solidFill>
              </a:defRPr>
            </a:pPr>
            <a:r>
              <a:t>Thank You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Presentation by:</a:t>
            </a:r>
          </a:p>
          <a:p>
            <a:pPr algn="ctr">
              <a:spcAft>
                <a:spcPts val="1500"/>
              </a:spcAft>
              <a:defRPr sz="1800" b="1">
                <a:solidFill>
                  <a:srgbClr val="1E293B"/>
                </a:solidFill>
              </a:defRPr>
            </a:pPr>
            <a:r>
              <a:t>Saisaran M  (Reg No: 21024251040851)</a:t>
            </a:r>
            <a:br/>
            <a:r>
              <a:t>Sarvanesh DS (Reg No: 2104251040898)</a:t>
            </a:r>
          </a:p>
          <a:p>
            <a:pPr algn="ctr">
              <a:spcAft>
                <a:spcPts val="2000"/>
              </a:spcAft>
              <a:defRPr sz="1400">
                <a:solidFill>
                  <a:srgbClr val="64748B"/>
                </a:solidFill>
              </a:defRPr>
            </a:pPr>
            <a:r>
              <a:t>Department of Computer Science and Engineering</a:t>
            </a:r>
            <a:br/>
            <a:r>
              <a:t>Chennai Institute of Technology (Autonomous)</a:t>
            </a:r>
          </a:p>
          <a:p>
            <a:pPr algn="ctr">
              <a:defRPr sz="1300" b="1">
                <a:solidFill>
                  <a:srgbClr val="4F46E5"/>
                </a:solidFill>
              </a:defRPr>
            </a:pPr>
            <a:r>
              <a:t>GitHub: https://github.com/saisaran-m/StockPrediction</a:t>
            </a:r>
            <a:br/>
            <a:r>
              <a:t>Live App: https://stockprediction-z8r0.onrender.com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